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FinWise, una aplicación de gestión financiera personal. Su diseño de datos incluye 14 entidades previstas: una de autenticación y 13 propias. Next.js maneja la aplicación y Supabase, apoyado en PostgreSQL, almacena los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se obtuvo de las especificaciones y casos de uso ya documentados. Se organiza en tres necesidades: registrar operaciones, planificar compromisos y analizar resultados. Cada acción debe tener tablas responsables, reglas de validación y una prueba de aceptación.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cinco entidades. auth.users identifica al usuario y profiles guarda nombre, moneda y reserva. accounts representa sus cuentas; categories clasifica ingresos y gastos; transactions registra cada operación con importe, fecha, tipo y referencias. La relación de una cuenta con muchas transacciones hace posible calcular saldos sin almacenar un saldo actual duplicado. Una transferencia se representa de forma balanceada.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seis tablas ayudan a prever el futuro del usuario. obligations almacena vencimientos y montos comprometidos; budgets define presupuestos por categoría y periodo; goals define objetivos; goal_contributions detalla sus aportes; recurring_transactions define una regla periódica y subscriptions identifica servicios activos. Ejemplo: comparar lo gastado en transactions con un budget de una categoría; o sumar goal_contributions para calcular avance.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explican tres tablas restantes: debts guarda tipo, saldo actual y estado; debt_payments permite distinguir capital e intereses, y una deuda recibe muchos pagos. alerts advierte vencimientos o eventos financieros; cada alerta pertenece a un perfil. Este bloque completa las 14 entidades del modelo. El DER también enlaza los bloques anteriores por las claves foráneas.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esquema SQL traduce el diagrama a tablas físicas. Se eligen UUID para los identificadores, numeric para evitar errores de redondeo monetario, y restricciones para evitar registros inválidos. Las claves foráneas protegen las relaciones y las políticas RLS separan la información por usuario. No creamos una tabla dashboard: los indicadores se obtienen con consultas.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Finalmente, Next.js expone los formularios y acciones de la aplicación, y Supabase ejecuta las operaciones. Cada especificación tiene un caso verificable: registrar gasto, comprobar presupuesto o bloquear acceso cruzado. Son pruebas propuestas, aún no ejecutadas. Así demostramos correspondencia entre necesidad, diseño de datos y solución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DER se presenta solamente si el profesor pide profundizar. Las relaciones no mostradas para evitar saturación son las FK user_id de cada tabla propia hacia profiles, como define el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4D6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PROPÓSITO DEL SISTEMA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FinWise: diseño de base de datos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144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556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DBDCC"/>
                </a:solidFill>
              </a:rPr>
              <a:t>FINWISE  ·  DISEÑO INTEGRAL  ·  1/8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08813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8FC"/>
                </a:solidFill>
              </a:rPr>
              <a:t>Arquitectura prevista para una aplicación de gestión financiera personal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329184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62439"/>
          </a:solidFill>
          <a:ln w="12700">
            <a:solidFill>
              <a:srgbClr val="3048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3456432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D6B3"/>
                </a:solidFill>
              </a:rPr>
              <a:t>14 entidades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23544" y="3858768"/>
            <a:ext cx="29992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1 entidad de autenticación y 13 tablas propias.</a:t>
            </a:r>
            <a:endParaRPr lang="en-US" sz="1360" dirty="0"/>
          </a:p>
        </p:txBody>
      </p:sp>
      <p:sp>
        <p:nvSpPr>
          <p:cNvPr id="10" name="Shape 8"/>
          <p:cNvSpPr/>
          <p:nvPr/>
        </p:nvSpPr>
        <p:spPr>
          <a:xfrm>
            <a:off x="4343400" y="329184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62439"/>
          </a:solidFill>
          <a:ln w="12700">
            <a:solidFill>
              <a:srgbClr val="3048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5424" y="3456432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D6B3"/>
                </a:solidFill>
              </a:rPr>
              <a:t>PostgreSQL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35424" y="3858768"/>
            <a:ext cx="29992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Persistencia y relaciones a través de Supabase.</a:t>
            </a:r>
            <a:endParaRPr lang="en-US" sz="1360" dirty="0"/>
          </a:p>
        </p:txBody>
      </p:sp>
      <p:sp>
        <p:nvSpPr>
          <p:cNvPr id="13" name="Shape 11"/>
          <p:cNvSpPr/>
          <p:nvPr/>
        </p:nvSpPr>
        <p:spPr>
          <a:xfrm>
            <a:off x="7955280" y="329184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62439"/>
          </a:solidFill>
          <a:ln w="12700">
            <a:solidFill>
              <a:srgbClr val="3048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47304" y="3456432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D6B3"/>
                </a:solidFill>
              </a:rPr>
              <a:t>Next.js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47304" y="3858768"/>
            <a:ext cx="29992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Interfaz, operaciones y validación funcional.</a:t>
            </a:r>
            <a:endParaRPr lang="en-US" sz="1360" dirty="0"/>
          </a:p>
        </p:txBody>
      </p:sp>
      <p:sp>
        <p:nvSpPr>
          <p:cNvPr id="16" name="Text 14"/>
          <p:cNvSpPr/>
          <p:nvPr/>
        </p:nvSpPr>
        <p:spPr>
          <a:xfrm>
            <a:off x="8412480" y="642823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8C471"/>
                </a:solidFill>
              </a:rPr>
              <a:t>Persona 1  ·  0:00–0:35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4D6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DE USO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necesidades a especificaciones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144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556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DBDCC"/>
                </a:solidFill>
              </a:rPr>
              <a:t>FINWISE  ·  DISEÑO INTEGRAL  ·  2/8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55648"/>
            <a:ext cx="3383280" cy="3182112"/>
          </a:xfrm>
          <a:prstGeom prst="roundRect">
            <a:avLst>
              <a:gd name="adj" fmla="val 2874"/>
            </a:avLst>
          </a:prstGeom>
          <a:solidFill>
            <a:srgbClr val="162439"/>
          </a:solidFill>
          <a:ln w="12700">
            <a:solidFill>
              <a:srgbClr val="3048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920240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D6B3"/>
                </a:solidFill>
              </a:rPr>
              <a:t>Registrar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3544" y="2322576"/>
            <a:ext cx="2999232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Usuarios, cuentas, categorías y movimientos de ingreso, gasto y transferencia.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4389120" y="1755648"/>
            <a:ext cx="3383280" cy="3182112"/>
          </a:xfrm>
          <a:prstGeom prst="roundRect">
            <a:avLst>
              <a:gd name="adj" fmla="val 2874"/>
            </a:avLst>
          </a:prstGeom>
          <a:solidFill>
            <a:srgbClr val="162439"/>
          </a:solidFill>
          <a:ln w="12700">
            <a:solidFill>
              <a:srgbClr val="3048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1920240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D6B3"/>
                </a:solidFill>
              </a:rPr>
              <a:t>Planificar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81144" y="2322576"/>
            <a:ext cx="2999232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Obligaciones, presupuestos, metas y pagos recurrentes.</a:t>
            </a:r>
            <a:endParaRPr lang="en-US" sz="1360" dirty="0"/>
          </a:p>
        </p:txBody>
      </p:sp>
      <p:sp>
        <p:nvSpPr>
          <p:cNvPr id="12" name="Shape 10"/>
          <p:cNvSpPr/>
          <p:nvPr/>
        </p:nvSpPr>
        <p:spPr>
          <a:xfrm>
            <a:off x="8046720" y="1755648"/>
            <a:ext cx="3383280" cy="3182112"/>
          </a:xfrm>
          <a:prstGeom prst="roundRect">
            <a:avLst>
              <a:gd name="adj" fmla="val 2874"/>
            </a:avLst>
          </a:prstGeom>
          <a:solidFill>
            <a:srgbClr val="162439"/>
          </a:solidFill>
          <a:ln w="12700">
            <a:solidFill>
              <a:srgbClr val="3048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920240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D6B3"/>
                </a:solidFill>
              </a:rPr>
              <a:t>Analizar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38744" y="2322576"/>
            <a:ext cx="2999232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Saldo disponible, deudas, suscripciones y alertas financieras.</a:t>
            </a:r>
            <a:endParaRPr lang="en-US" sz="1360" dirty="0"/>
          </a:p>
        </p:txBody>
      </p:sp>
      <p:sp>
        <p:nvSpPr>
          <p:cNvPr id="15" name="Text 13"/>
          <p:cNvSpPr/>
          <p:nvPr/>
        </p:nvSpPr>
        <p:spPr>
          <a:xfrm>
            <a:off x="914400" y="53492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C471"/>
                </a:solidFill>
              </a:rPr>
              <a:t>Cada funcionalidad se vincula con datos, reglas de negocio y pruebas verificables.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12480" y="642823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8C471"/>
                </a:solidFill>
              </a:rPr>
              <a:t>Persona 1  ·  0:35–1:30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4D6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DE 5 ENTIDADES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Identidad, cuentas y transacciones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144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556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DBDCC"/>
                </a:solidFill>
              </a:rPr>
              <a:t>FINWISE  ·  DISEÑO INTEGRAL  ·  3/8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28216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162439"/>
          </a:solidFill>
          <a:ln w="12700">
            <a:solidFill>
              <a:srgbClr val="3048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892808"/>
            <a:ext cx="3182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D6B3"/>
                </a:solidFill>
              </a:rPr>
              <a:t>Acceso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2104" y="2295144"/>
            <a:ext cx="318211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auth.users (identidad)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profiles (preferencias y reserva)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4343400" y="1728216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162439"/>
          </a:solidFill>
          <a:ln w="12700">
            <a:solidFill>
              <a:srgbClr val="3048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892808"/>
            <a:ext cx="3182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D6B3"/>
                </a:solidFill>
              </a:rPr>
              <a:t>Origen de fondos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35424" y="2295144"/>
            <a:ext cx="318211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accounts (cuentas y saldo inicial)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categories (tipo de movimiento)</a:t>
            </a:r>
            <a:endParaRPr lang="en-US" sz="1360" dirty="0"/>
          </a:p>
        </p:txBody>
      </p:sp>
      <p:sp>
        <p:nvSpPr>
          <p:cNvPr id="12" name="Shape 10"/>
          <p:cNvSpPr/>
          <p:nvPr/>
        </p:nvSpPr>
        <p:spPr>
          <a:xfrm>
            <a:off x="8046720" y="1728216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162439"/>
          </a:solidFill>
          <a:ln w="12700">
            <a:solidFill>
              <a:srgbClr val="3048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892808"/>
            <a:ext cx="3136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D6B3"/>
                </a:solidFill>
              </a:rPr>
              <a:t>Libro contable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38744" y="2295144"/>
            <a:ext cx="31363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transactions (ingresos, gastos y transferencias)</a:t>
            </a:r>
            <a:endParaRPr lang="en-US" sz="1360" dirty="0"/>
          </a:p>
        </p:txBody>
      </p:sp>
      <p:sp>
        <p:nvSpPr>
          <p:cNvPr id="15" name="Text 13"/>
          <p:cNvSpPr/>
          <p:nvPr/>
        </p:nvSpPr>
        <p:spPr>
          <a:xfrm>
            <a:off x="822960" y="5431536"/>
            <a:ext cx="10515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8C471"/>
                </a:solidFill>
              </a:rPr>
              <a:t>Relaciones: usuario 1:1 perfil; perfil 1:N cuentas; cuenta y categoría 1:N movimientos.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642823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8C471"/>
                </a:solidFill>
              </a:rPr>
              <a:t>Persona 2  ·  1:30–3:00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4D6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DE 6 ENTIDADES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Planificación, ahorro y automatización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144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556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DBDCC"/>
                </a:solidFill>
              </a:rPr>
              <a:t>FINWISE  ·  DISEÑO INTEGRAL  ·  4/8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566160" cy="3858768"/>
          </a:xfrm>
          <a:prstGeom prst="roundRect">
            <a:avLst>
              <a:gd name="adj" fmla="val 2564"/>
            </a:avLst>
          </a:prstGeom>
          <a:solidFill>
            <a:srgbClr val="162439"/>
          </a:solidFill>
          <a:ln w="12700">
            <a:solidFill>
              <a:srgbClr val="3048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856232"/>
            <a:ext cx="3182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D6B3"/>
                </a:solidFill>
              </a:rPr>
              <a:t>Compromisos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2104" y="2258568"/>
            <a:ext cx="3182112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obligations: dinero pendiente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budgets: límite por categoría y periodo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66160" cy="3858768"/>
          </a:xfrm>
          <a:prstGeom prst="roundRect">
            <a:avLst>
              <a:gd name="adj" fmla="val 2564"/>
            </a:avLst>
          </a:prstGeom>
          <a:solidFill>
            <a:srgbClr val="162439"/>
          </a:solidFill>
          <a:ln w="12700">
            <a:solidFill>
              <a:srgbClr val="3048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856232"/>
            <a:ext cx="3182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D6B3"/>
                </a:solidFill>
              </a:rPr>
              <a:t>Ahorro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35424" y="2258568"/>
            <a:ext cx="3182112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goals: monto objetivo y fecha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goal_contributions: aportes a cada meta</a:t>
            </a:r>
            <a:endParaRPr lang="en-US" sz="136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520440" cy="3858768"/>
          </a:xfrm>
          <a:prstGeom prst="roundRect">
            <a:avLst>
              <a:gd name="adj" fmla="val 2597"/>
            </a:avLst>
          </a:prstGeom>
          <a:solidFill>
            <a:srgbClr val="162439"/>
          </a:solidFill>
          <a:ln w="12700">
            <a:solidFill>
              <a:srgbClr val="3048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856232"/>
            <a:ext cx="3136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D6B3"/>
                </a:solidFill>
              </a:rPr>
              <a:t>Repetición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38744" y="2258568"/>
            <a:ext cx="3136392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recurring_transactions: reglas de frecuencia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subscriptions: servicios de cobro periódico</a:t>
            </a:r>
            <a:endParaRPr lang="en-US" sz="1360" dirty="0"/>
          </a:p>
        </p:txBody>
      </p:sp>
      <p:sp>
        <p:nvSpPr>
          <p:cNvPr id="15" name="Text 13"/>
          <p:cNvSpPr/>
          <p:nvPr/>
        </p:nvSpPr>
        <p:spPr>
          <a:xfrm>
            <a:off x="786384" y="5806440"/>
            <a:ext cx="10607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60" dirty="0">
                <a:solidFill>
                  <a:srgbClr val="F8C471"/>
                </a:solidFill>
              </a:rPr>
              <a:t>Relaciones clave: budgets → categories; goal_contributions → goals; recurrencias → movimientos.</a:t>
            </a:r>
            <a:endParaRPr lang="en-US" sz="1460" dirty="0"/>
          </a:p>
        </p:txBody>
      </p:sp>
      <p:sp>
        <p:nvSpPr>
          <p:cNvPr id="16" name="Text 14"/>
          <p:cNvSpPr/>
          <p:nvPr/>
        </p:nvSpPr>
        <p:spPr>
          <a:xfrm>
            <a:off x="8412480" y="642823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8C471"/>
                </a:solidFill>
              </a:rPr>
              <a:t>Persona 3  ·  3:00–4:45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4D6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DE 3 ENTIDADES + RELACIONES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Deudas, pagos y alertas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144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556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DBDCC"/>
                </a:solidFill>
              </a:rPr>
              <a:t>FINWISE  ·  DISEÑO INTEGRAL  ·  5/8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162439"/>
          </a:solidFill>
          <a:ln w="12700">
            <a:solidFill>
              <a:srgbClr val="3048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901952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D6B3"/>
                </a:solidFill>
              </a:rPr>
              <a:t>debts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3544" y="2304288"/>
            <a:ext cx="299923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Almacena la deuda y su saldo pendiente.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162439"/>
          </a:solidFill>
          <a:ln w="12700">
            <a:solidFill>
              <a:srgbClr val="3048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1901952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D6B3"/>
                </a:solidFill>
              </a:rPr>
              <a:t>debt_payments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81144" y="2304288"/>
            <a:ext cx="299923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Registra abonos, capital e intereses.</a:t>
            </a:r>
            <a:endParaRPr lang="en-US" sz="136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162439"/>
          </a:solidFill>
          <a:ln w="12700">
            <a:solidFill>
              <a:srgbClr val="3048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901952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D6B3"/>
                </a:solidFill>
              </a:rPr>
              <a:t>alerts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38744" y="2304288"/>
            <a:ext cx="299923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Registra notificaciones y estado de lectura.</a:t>
            </a:r>
            <a:endParaRPr lang="en-US" sz="1360" dirty="0"/>
          </a:p>
        </p:txBody>
      </p:sp>
      <p:sp>
        <p:nvSpPr>
          <p:cNvPr id="15" name="Text 13"/>
          <p:cNvSpPr/>
          <p:nvPr/>
        </p:nvSpPr>
        <p:spPr>
          <a:xfrm>
            <a:off x="694944" y="5632704"/>
            <a:ext cx="10881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8C471"/>
                </a:solidFill>
              </a:rPr>
              <a:t>DER: debts 1:N debt_payments  ·  profiles 1:N alerts  ·  categories 1:N budgets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642823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8C471"/>
                </a:solidFill>
              </a:rPr>
              <a:t>Persona 4  ·  4:45–6:05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4D6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DECISIONES TÉCNICAS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Schema: integridad y seguridad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144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556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DBDCC"/>
                </a:solidFill>
              </a:rPr>
              <a:t>FINWISE  ·  DISEÑO INTEGRAL  ·  6/8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162439"/>
          </a:solidFill>
          <a:ln w="12700">
            <a:solidFill>
              <a:srgbClr val="3048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901952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D6B3"/>
                </a:solidFill>
              </a:rPr>
              <a:t>Claves y tipos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3544" y="2304288"/>
            <a:ext cx="299923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IDs UUID; montos numeric(20,4); fechas date y timestamptz.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162439"/>
          </a:solidFill>
          <a:ln w="12700">
            <a:solidFill>
              <a:srgbClr val="3048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1901952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D6B3"/>
                </a:solidFill>
              </a:rPr>
              <a:t>Integridad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81144" y="2304288"/>
            <a:ext cx="299923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PK, FK, restricciones de negocio y unicidad.</a:t>
            </a:r>
            <a:endParaRPr lang="en-US" sz="136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162439"/>
          </a:solidFill>
          <a:ln w="12700">
            <a:solidFill>
              <a:srgbClr val="3048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901952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D6B3"/>
                </a:solidFill>
              </a:rPr>
              <a:t>Privacidad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38744" y="2304288"/>
            <a:ext cx="299923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RLS en Supabase; cada usuario accede solo a sus registros.</a:t>
            </a:r>
            <a:endParaRPr lang="en-US" sz="1360" dirty="0"/>
          </a:p>
        </p:txBody>
      </p:sp>
      <p:sp>
        <p:nvSpPr>
          <p:cNvPr id="15" name="Text 13"/>
          <p:cNvSpPr/>
          <p:nvPr/>
        </p:nvSpPr>
        <p:spPr>
          <a:xfrm>
            <a:off x="768096" y="5468112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C471"/>
                </a:solidFill>
              </a:rPr>
              <a:t>El dashboard se calcula a partir de tablas existentes; no requiere una tabla propia.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12480" y="642823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8C471"/>
                </a:solidFill>
              </a:rPr>
              <a:t>Persona 5  ·  6:05–7:05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4D6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EN NEXT.JS + SUPABASE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Pruebas que demuestran cumplimiento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144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556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DBDCC"/>
                </a:solidFill>
              </a:rPr>
              <a:t>FINWISE  ·  DISEÑO INTEGRAL  ·  7/8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28216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162439"/>
          </a:solidFill>
          <a:ln w="12700">
            <a:solidFill>
              <a:srgbClr val="3048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892808"/>
            <a:ext cx="3182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D6B3"/>
                </a:solidFill>
              </a:rPr>
              <a:t>Caso A · Transacción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2104" y="2295144"/>
            <a:ext cx="318211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Crear gasto válido → se guarda y disminuye el saldo calculado.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4343400" y="1728216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162439"/>
          </a:solidFill>
          <a:ln w="12700">
            <a:solidFill>
              <a:srgbClr val="3048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892808"/>
            <a:ext cx="3182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D6B3"/>
                </a:solidFill>
              </a:rPr>
              <a:t>Caso B · Presupuesto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35424" y="2295144"/>
            <a:ext cx="318211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Gastos de categoría → se actualiza el porcentaje consumido.</a:t>
            </a:r>
            <a:endParaRPr lang="en-US" sz="1360" dirty="0"/>
          </a:p>
        </p:txBody>
      </p:sp>
      <p:sp>
        <p:nvSpPr>
          <p:cNvPr id="12" name="Shape 10"/>
          <p:cNvSpPr/>
          <p:nvPr/>
        </p:nvSpPr>
        <p:spPr>
          <a:xfrm>
            <a:off x="8046720" y="1728216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162439"/>
          </a:solidFill>
          <a:ln w="12700">
            <a:solidFill>
              <a:srgbClr val="3048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892808"/>
            <a:ext cx="3136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D6B3"/>
                </a:solidFill>
              </a:rPr>
              <a:t>Caso C · Seguridad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38744" y="2295144"/>
            <a:ext cx="31363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F5F8FC"/>
                </a:solidFill>
              </a:rPr>
              <a:t>Usuario A intenta leer datos de B → acceso rechazado.</a:t>
            </a:r>
            <a:endParaRPr lang="en-US" sz="1360" dirty="0"/>
          </a:p>
        </p:txBody>
      </p:sp>
      <p:sp>
        <p:nvSpPr>
          <p:cNvPr id="15" name="Text 13"/>
          <p:cNvSpPr/>
          <p:nvPr/>
        </p:nvSpPr>
        <p:spPr>
          <a:xfrm>
            <a:off x="731520" y="5458968"/>
            <a:ext cx="10744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C471"/>
                </a:solidFill>
              </a:rPr>
              <a:t>Estado: pruebas especificadas para ejecutar; no se presentan como aprobadas.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642823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8C471"/>
                </a:solidFill>
              </a:rPr>
              <a:t>Persona 5  ·  7:05–8:10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38328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54D6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ANEXO DE CONSULTA — FUERA DEL TIEMPO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 integral · 14 entidades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3144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556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DBDCC"/>
                </a:solidFill>
              </a:rPr>
              <a:t>FINWISE  ·  DISEÑO INTEGRAL  ·  8/8</a:t>
            </a:r>
            <a:endParaRPr lang="en-US" sz="900" dirty="0"/>
          </a:p>
        </p:txBody>
      </p:sp>
      <p:pic>
        <p:nvPicPr>
          <p:cNvPr id="6" name="Image 0" descr="/mnt/data/finwise_expo/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72768"/>
            <a:ext cx="10744200" cy="45628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6153912"/>
            <a:ext cx="10789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BDCC"/>
                </a:solidFill>
              </a:rPr>
              <a:t>Relaciones principales. Cada tabla privada también pertenece al usuario mediante user_id.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0" y="642823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8C471"/>
                </a:solidFill>
              </a:rPr>
              <a:t>Anexo  ·  Preguntas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FinWise - Modelo de datos integral</dc:title>
  <dc:subject>Exposicion de arquitectura integral</dc:subject>
  <dc:creator>FinWise</dc:creator>
  <cp:lastModifiedBy>FinWise</cp:lastModifiedBy>
  <cp:revision>1</cp:revision>
  <dcterms:created xsi:type="dcterms:W3CDTF">2026-10-21T13:57:43Z</dcterms:created>
  <dcterms:modified xsi:type="dcterms:W3CDTF">2026-10-21T13:57:43Z</dcterms:modified>
</cp:coreProperties>
</file>